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IILM UNIVERSITY</a:t>
            </a:r>
          </a:p>
          <a:p>
            <a:pPr>
              <a:defRPr sz="1400">
                <a:solidFill>
                  <a:srgbClr val="D2DCEB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2651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INTERNSHIP</a:t>
            </a:r>
            <a:br/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143000"/>
            <a:ext cx="7040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141F30"/>
                </a:solidFill>
                <a:latin typeface="Aptos Display"/>
              </a:defRPr>
            </a:pPr>
            <a:r>
              <a:t>ELK Centralized</a:t>
            </a:r>
            <a:br/>
            <a:r>
              <a:t>Log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88920"/>
            <a:ext cx="6583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67B2"/>
                </a:solidFill>
                <a:latin typeface="Aptos"/>
              </a:defRPr>
            </a:pPr>
            <a:r>
              <a:t>Cybersecurity Internship Project</a:t>
            </a:r>
          </a:p>
          <a:p>
            <a:pPr>
              <a:spcAft>
                <a:spcPts val="800"/>
              </a:spcAft>
              <a:defRPr sz="1400">
                <a:solidFill>
                  <a:srgbClr val="5F6C7D"/>
                </a:solidFill>
                <a:latin typeface="Aptos"/>
              </a:defRPr>
            </a:pPr>
            <a:r>
              <a:t>Unlox  •  1 June 2026 – 22 August 2026</a:t>
            </a:r>
          </a:p>
          <a:p>
            <a:pPr>
              <a:spcAft>
                <a:spcPts val="800"/>
              </a:spcAft>
              <a:defRPr sz="1400">
                <a:solidFill>
                  <a:srgbClr val="5F6C7D"/>
                </a:solidFill>
                <a:latin typeface="Aptos"/>
              </a:defRPr>
            </a:pPr>
            <a:r>
              <a:t>Cyber Intern (Web Security)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709160"/>
            <a:ext cx="6400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42C"/>
                </a:solidFill>
                <a:latin typeface="Aptos Display"/>
              </a:defRPr>
            </a:pPr>
            <a:r>
              <a:t>Aanya Yadav</a:t>
            </a:r>
          </a:p>
          <a:p>
            <a:pPr>
              <a:defRPr sz="1400">
                <a:solidFill>
                  <a:srgbClr val="5F6C7D"/>
                </a:solidFill>
                <a:latin typeface="Aptos"/>
              </a:defRPr>
            </a:pPr>
            <a:r>
              <a:t>Roll No. 25SCS1003002388  |  Class 2 CSE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Centralized visibility for security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21208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Collects logs from multiple endpoints into a centralized monitoring pipeline.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Processes and transforms security-relevant log data for analysis.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Uses dashboards and detection rules to make suspicious activity easier to identify.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Project repository is organized around architecture, configs, dashboards, detection rules, sample logs and reporting.</a:t>
            </a:r>
          </a:p>
        </p:txBody>
      </p:sp>
      <p:pic>
        <p:nvPicPr>
          <p:cNvPr id="8" name="Picture 7" descr="af0f33e2-0abc-40b3-a7a5-dcd9724368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43000"/>
            <a:ext cx="5440680" cy="35199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2472" y="1124712"/>
            <a:ext cx="5477256" cy="4434840"/>
          </a:xfrm>
          <a:prstGeom prst="rect">
            <a:avLst/>
          </a:prstGeom>
          <a:noFill/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5623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67B2"/>
                </a:solidFill>
                <a:latin typeface="Aptos"/>
              </a:defRPr>
            </a:pPr>
            <a:r>
              <a:t>github.com/0x-aanya/ELK-Centralized-Log-Monitoring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Security monitoring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Why centralized log monitoring is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160020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75104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Scattered logs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Endpoints generate security events in different locations and formats.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160020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Slow investigation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Manual log review makes it harder to correlate events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73152" cy="1600200"/>
          </a:xfrm>
          <a:prstGeom prst="rect">
            <a:avLst/>
          </a:prstGeom>
          <a:solidFill>
            <a:srgbClr val="2D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941064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Limited visibility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Important indicators can be missed when there is no unified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16636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94760"/>
            <a:ext cx="73152" cy="160020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941064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Detection gap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Repeated or suspicious patterns need consistent detection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What the project aims to achieve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514600" cy="3063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2A3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F30"/>
                </a:solidFill>
              </a:defRPr>
            </a:pPr>
            <a:r>
              <a:t>Centralize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Bring endpoint logs into one monitoring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514600" cy="3063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2A3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F30"/>
                </a:solidFill>
              </a:defRPr>
            </a:pPr>
            <a: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Process logs into a consistent, searchable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20240"/>
            <a:ext cx="2514600" cy="3063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2A37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F30"/>
                </a:solidFill>
              </a:defRPr>
            </a:pPr>
            <a: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Apply rules for failed logins, file integrity and suspicious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920240"/>
            <a:ext cx="2514600" cy="3063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2A37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74320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1F30"/>
                </a:solidFill>
              </a:defRPr>
            </a:pPr>
            <a: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383280"/>
            <a:ext cx="2103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Present security events through dashboards for faster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ELK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1F30"/>
                </a:solidFill>
                <a:latin typeface="Aptos Display"/>
              </a:defRPr>
            </a:pPr>
            <a:r>
              <a:t>Endpoint → Collection → Processing → Search →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7830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A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21992"/>
            <a:ext cx="15636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1F30"/>
                </a:solidFill>
              </a:defRPr>
            </a:pPr>
            <a:r>
              <a:t>Windows Endpoint</a:t>
            </a:r>
          </a:p>
          <a:p>
            <a:pPr algn="ctr">
              <a:defRPr sz="1050">
                <a:solidFill>
                  <a:srgbClr val="5F6C7D"/>
                </a:solidFill>
              </a:defRPr>
            </a:pPr>
            <a:r>
              <a:t>Winlogbeat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178308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A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050791"/>
            <a:ext cx="15636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1F30"/>
                </a:solidFill>
              </a:defRPr>
            </a:pPr>
            <a:r>
              <a:t>Linux Endpoint</a:t>
            </a:r>
          </a:p>
          <a:p>
            <a:pPr algn="ctr">
              <a:defRPr sz="1050">
                <a:solidFill>
                  <a:srgbClr val="5F6C7D"/>
                </a:solidFill>
              </a:defRPr>
            </a:pPr>
            <a:r>
              <a:t>Filebeat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880360"/>
            <a:ext cx="182880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A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3044952"/>
            <a:ext cx="160934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1F30"/>
                </a:solidFill>
              </a:defRPr>
            </a:pPr>
            <a:r>
              <a:t>Logstash</a:t>
            </a:r>
          </a:p>
          <a:p>
            <a:pPr algn="ctr">
              <a:defRPr sz="1050">
                <a:solidFill>
                  <a:srgbClr val="5F6C7D"/>
                </a:solidFill>
              </a:defRPr>
            </a:pPr>
            <a:r>
              <a:t>Ingest + Transform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880360"/>
            <a:ext cx="182880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A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3044952"/>
            <a:ext cx="160934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1F30"/>
                </a:solidFill>
              </a:defRPr>
            </a:pPr>
            <a:r>
              <a:t>Elasticsearch</a:t>
            </a:r>
          </a:p>
          <a:p>
            <a:pPr algn="ctr">
              <a:defRPr sz="1050">
                <a:solidFill>
                  <a:srgbClr val="5F6C7D"/>
                </a:solidFill>
              </a:defRPr>
            </a:pPr>
            <a:r>
              <a:t>Index +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880360"/>
            <a:ext cx="2194560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2A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7" y="3044952"/>
            <a:ext cx="197510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1F30"/>
                </a:solidFill>
              </a:defRPr>
            </a:pPr>
            <a:r>
              <a:t>Kibana</a:t>
            </a:r>
          </a:p>
          <a:p>
            <a:pPr algn="ctr">
              <a:defRPr sz="1050">
                <a:solidFill>
                  <a:srgbClr val="5F6C7D"/>
                </a:solidFill>
              </a:defRPr>
            </a:pPr>
            <a:r>
              <a:t>Dashboards +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2578608"/>
            <a:ext cx="685800" cy="667512"/>
          </a:xfrm>
          <a:prstGeom prst="line">
            <a:avLst/>
          </a:prstGeom>
          <a:ln w="27940">
            <a:solidFill>
              <a:srgbClr val="2A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86000" y="3566160"/>
            <a:ext cx="685800" cy="841248"/>
          </a:xfrm>
          <a:prstGeom prst="line">
            <a:avLst/>
          </a:prstGeom>
          <a:ln w="27940">
            <a:solidFill>
              <a:srgbClr val="2A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3401568"/>
            <a:ext cx="685800" cy="0"/>
          </a:xfrm>
          <a:prstGeom prst="line">
            <a:avLst/>
          </a:prstGeom>
          <a:ln w="27940">
            <a:solidFill>
              <a:srgbClr val="2A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3401568"/>
            <a:ext cx="685800" cy="0"/>
          </a:xfrm>
          <a:prstGeom prst="line">
            <a:avLst/>
          </a:prstGeom>
          <a:ln w="27940">
            <a:solidFill>
              <a:srgbClr val="2A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42C"/>
                </a:solidFill>
              </a:defRPr>
            </a:pPr>
            <a:r>
              <a:t>The repository structure supports configuration, architecture documentation, dashboards, detection rules, sample logs and project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Core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Tools and technologies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44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91440" cy="82296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ELK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74519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42C"/>
                </a:solidFill>
              </a:defRPr>
            </a:pPr>
            <a:r>
              <a:t>Elasticsearch • Logstash • Kibana</a:t>
            </a:r>
          </a:p>
          <a:p>
            <a:pPr>
              <a:defRPr sz="1050">
                <a:solidFill>
                  <a:srgbClr val="5F6C7D"/>
                </a:solidFill>
              </a:defRPr>
            </a:pPr>
            <a:r>
              <a:t>Central log storage, processing and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62072"/>
            <a:ext cx="10744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62072"/>
            <a:ext cx="91440" cy="82296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80944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Beats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53512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42C"/>
                </a:solidFill>
              </a:defRPr>
            </a:pPr>
            <a:r>
              <a:t>Winlogbeat • Filebeat</a:t>
            </a:r>
          </a:p>
          <a:p>
            <a:pPr>
              <a:defRPr sz="1050">
                <a:solidFill>
                  <a:srgbClr val="5F6C7D"/>
                </a:solidFill>
              </a:defRPr>
            </a:pPr>
            <a:r>
              <a:t>Endpoint log collection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41063"/>
            <a:ext cx="10744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41063"/>
            <a:ext cx="91440" cy="822960"/>
          </a:xfrm>
          <a:prstGeom prst="rect">
            <a:avLst/>
          </a:prstGeom>
          <a:solidFill>
            <a:srgbClr val="2D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59935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Security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032503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42C"/>
                </a:solidFill>
              </a:defRPr>
            </a:pPr>
            <a:r>
              <a:t>Failed login • File integrity • SSH monitoring • Suspicious login</a:t>
            </a:r>
          </a:p>
          <a:p>
            <a:pPr>
              <a:defRPr sz="1050">
                <a:solidFill>
                  <a:srgbClr val="5F6C7D"/>
                </a:solidFill>
              </a:defRPr>
            </a:pPr>
            <a:r>
              <a:t>Rule-based event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0056"/>
            <a:ext cx="10744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20056"/>
            <a:ext cx="91440" cy="82296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38928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Project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5111496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42C"/>
                </a:solidFill>
              </a:defRPr>
            </a:pPr>
            <a:r>
              <a:t>Configs • Dashboards • Sample logs • Architecture • Report</a:t>
            </a:r>
          </a:p>
          <a:p>
            <a:pPr>
              <a:defRPr sz="1050">
                <a:solidFill>
                  <a:srgbClr val="5F6C7D"/>
                </a:solidFill>
              </a:defRPr>
            </a:pPr>
            <a:r>
              <a:t>Reproducible project organization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Detection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Security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Examples of security events to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50876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Failed Login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Repeated authentication failures can indicate password guessing or brute-force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150876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File Integrity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Changes to monitored files can indicate unauthorized modification.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508760"/>
          </a:xfrm>
          <a:prstGeom prst="rect">
            <a:avLst/>
          </a:prstGeom>
          <a:solidFill>
            <a:srgbClr val="2D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4962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SSH Monitoring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Track SSH-related events for unusual access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73152" cy="150876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84962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Suspicious Login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Flag login behavior that matches defined suspicious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Monitoring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From raw event to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How a security event moves through the system</a:t>
            </a:r>
          </a:p>
        </p:txBody>
      </p:sp>
      <p:sp>
        <p:nvSpPr>
          <p:cNvPr id="7" name="Oval 6"/>
          <p:cNvSpPr/>
          <p:nvPr/>
        </p:nvSpPr>
        <p:spPr>
          <a:xfrm>
            <a:off x="1069848" y="1965960"/>
            <a:ext cx="566928" cy="566928"/>
          </a:xfrm>
          <a:prstGeom prst="ellipse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7568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F30"/>
                </a:solidFill>
              </a:defRPr>
            </a:pPr>
            <a: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D"/>
                </a:solidFill>
              </a:defRPr>
            </a:pPr>
            <a:r>
              <a:t>Endpoint creates an event/log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9928" y="2249424"/>
            <a:ext cx="694944" cy="0"/>
          </a:xfrm>
          <a:prstGeom prst="line">
            <a:avLst/>
          </a:prstGeom>
          <a:ln w="25400">
            <a:solidFill>
              <a:srgbClr val="A0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08376" y="1965960"/>
            <a:ext cx="566928" cy="566928"/>
          </a:xfrm>
          <a:prstGeom prst="ellipse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07568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743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F30"/>
                </a:solidFill>
              </a:defRPr>
            </a:pPr>
            <a: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32461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D"/>
                </a:solidFill>
              </a:defRPr>
            </a:pPr>
            <a:r>
              <a:t>Beats forwards the log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48456" y="2249424"/>
            <a:ext cx="694944" cy="0"/>
          </a:xfrm>
          <a:prstGeom prst="line">
            <a:avLst/>
          </a:prstGeom>
          <a:ln w="25400">
            <a:solidFill>
              <a:srgbClr val="A0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946904" y="1965960"/>
            <a:ext cx="566928" cy="566928"/>
          </a:xfrm>
          <a:prstGeom prst="ellipse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4" y="207568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743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F30"/>
                </a:solidFill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2461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D"/>
                </a:solidFill>
              </a:defRPr>
            </a:pPr>
            <a:r>
              <a:t>Logstash parses/transforms 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86984" y="2249424"/>
            <a:ext cx="694944" cy="0"/>
          </a:xfrm>
          <a:prstGeom prst="line">
            <a:avLst/>
          </a:prstGeom>
          <a:ln w="25400">
            <a:solidFill>
              <a:srgbClr val="A0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885432" y="1965960"/>
            <a:ext cx="566928" cy="566928"/>
          </a:xfrm>
          <a:prstGeom prst="ellipse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207568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743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F30"/>
                </a:solidFill>
              </a:defRPr>
            </a:pPr>
            <a:r>
              <a:t>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2461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D"/>
                </a:solidFill>
              </a:defRPr>
            </a:pPr>
            <a:r>
              <a:t>Elasticsearch stores it for search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25512" y="2249424"/>
            <a:ext cx="694944" cy="0"/>
          </a:xfrm>
          <a:prstGeom prst="line">
            <a:avLst/>
          </a:prstGeom>
          <a:ln w="25400">
            <a:solidFill>
              <a:srgbClr val="A0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823960" y="1965960"/>
            <a:ext cx="566928" cy="566928"/>
          </a:xfrm>
          <a:prstGeom prst="ellipse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07568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743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F30"/>
                </a:solidFill>
              </a:defRPr>
            </a:pPr>
            <a:r>
              <a:t>Detect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2461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D"/>
                </a:solidFill>
              </a:defRPr>
            </a:pPr>
            <a:r>
              <a:t>Rules identify relevant patterns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40" y="2249424"/>
            <a:ext cx="694944" cy="0"/>
          </a:xfrm>
          <a:prstGeom prst="line">
            <a:avLst/>
          </a:prstGeom>
          <a:ln w="25400">
            <a:solidFill>
              <a:srgbClr val="A0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762488" y="1965960"/>
            <a:ext cx="566928" cy="566928"/>
          </a:xfrm>
          <a:prstGeom prst="ellipse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62488" y="207568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7432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F30"/>
                </a:solidFill>
              </a:defRPr>
            </a:pPr>
            <a:r>
              <a:t>Visualize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324612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D"/>
                </a:solidFill>
              </a:defRPr>
            </a:pPr>
            <a:r>
              <a:t>Kibana presents the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What the solution provides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50876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Unified visibility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Security logs become accessible through one centralized monitoring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150876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7510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Faster investigation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Searchable and visualized events reduce the effort required to inspect raw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508760"/>
          </a:xfrm>
          <a:prstGeom prst="rect">
            <a:avLst/>
          </a:prstGeom>
          <a:solidFill>
            <a:srgbClr val="2D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4962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Repeatable detection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Detection rules provide a consistent way to flag selected security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1206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73152" cy="150876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849624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Scalable foundation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The architecture can be extended with more endpoints, rules and dashboards.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My Internship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Unlox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My role in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Worked as a Cyber Intern with a focus on Web Security.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Built and organized a centralized log-monitoring project around the ELK stack.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Worked with endpoint log collection, configurations, security detection rules and dashboards.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Documented the architecture, sample logs and project report in a structured GitHub repository.</a:t>
            </a:r>
          </a:p>
          <a:p>
            <a:pPr>
              <a:spcAft>
                <a:spcPts val="1000"/>
              </a:spcAft>
              <a:defRPr sz="1700">
                <a:solidFill>
                  <a:srgbClr val="1E242C"/>
                </a:solidFill>
                <a:latin typeface="Aptos"/>
              </a:defRPr>
            </a:pPr>
            <a:r>
              <a:t>• Internship period: 1 June 2026 – 22 August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3657600" cy="2377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828800"/>
            <a:ext cx="73152" cy="2377440"/>
          </a:xfrm>
          <a:prstGeom prst="rect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975104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Aanya Yadav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B.Tech CSE</a:t>
            </a:r>
            <a:br/>
            <a:r>
              <a:t>Class: 2 CSE 11</a:t>
            </a:r>
            <a:br/>
            <a:r>
              <a:t>Roll No.: 25SCS1003002388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480560"/>
            <a:ext cx="365760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4480560"/>
            <a:ext cx="73152" cy="1143000"/>
          </a:xfrm>
          <a:prstGeom prst="rect">
            <a:avLst/>
          </a:prstGeom>
          <a:solidFill>
            <a:srgbClr val="2A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462686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F30"/>
                </a:solidFill>
                <a:latin typeface="Aptos Display"/>
              </a:defRPr>
            </a:pPr>
            <a:r>
              <a:t>Project Repository</a:t>
            </a:r>
          </a:p>
          <a:p>
            <a:pPr>
              <a:spcBef>
                <a:spcPts val="700"/>
              </a:spcBef>
              <a:defRPr sz="1250">
                <a:solidFill>
                  <a:srgbClr val="1E242C"/>
                </a:solidFill>
                <a:latin typeface="Aptos"/>
              </a:defRPr>
            </a:pPr>
            <a:r>
              <a:t>0x-aanya / ELK-Centralized-Log-Monitoring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4630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DCEB"/>
                </a:solidFill>
                <a:latin typeface="Aptos"/>
              </a:defRPr>
            </a:pPr>
            <a:r>
              <a:t>Possible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1F30"/>
                </a:solidFill>
                <a:latin typeface="Aptos Display"/>
              </a:defRPr>
            </a:pPr>
            <a:r>
              <a:t>Where the project can go next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438912" cy="438912"/>
          </a:xfrm>
          <a:prstGeom prst="ellipse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6479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More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64792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Extend monitoring to additional servers, cloud workloads and applications.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633472"/>
            <a:ext cx="438912" cy="438912"/>
          </a:xfrm>
          <a:prstGeom prst="ellipse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15768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15184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Advanced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15184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Add richer correlation, anomaly detection and alert prioritization.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483864"/>
            <a:ext cx="438912" cy="438912"/>
          </a:xfrm>
          <a:prstGeom prst="ellipse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6616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6557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Secure 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465576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Harden endpoint-to-collector communication and access controls.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34256"/>
            <a:ext cx="438912" cy="438912"/>
          </a:xfrm>
          <a:prstGeom prst="ellipse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16552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1596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Operational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315968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Integrate notifications and incident-response workflows.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184648"/>
            <a:ext cx="438912" cy="438912"/>
          </a:xfrm>
          <a:prstGeom prst="ellipse">
            <a:avLst/>
          </a:prstGeom>
          <a:solidFill>
            <a:srgbClr val="B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66944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66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1F30"/>
                </a:solidFill>
              </a:defRPr>
            </a:pPr>
            <a:r>
              <a:t>Threat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166360"/>
            <a:ext cx="7406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42C"/>
                </a:solidFill>
              </a:defRPr>
            </a:pPr>
            <a:r>
              <a:t>Enrich events with external indicators and contextual security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61447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1F30"/>
                </a:solidFill>
                <a:latin typeface="Aptos Display"/>
              </a:defRPr>
            </a:pPr>
            <a:r>
              <a:t>IILM UNIVERSITY</a:t>
            </a:r>
          </a:p>
          <a:p>
            <a:pPr algn="r">
              <a:defRPr sz="850">
                <a:solidFill>
                  <a:srgbClr val="5F6C7D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2011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D"/>
                </a:solidFill>
                <a:latin typeface="Aptos"/>
              </a:defRPr>
            </a:pPr>
            <a:r>
              <a:t>Aanya Yadav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E1E8F2"/>
                </a:solidFill>
                <a:latin typeface="Aptos"/>
              </a:defRPr>
            </a:pPr>
            <a:r>
              <a:t>ELK Centralized Log Monitoring provides a structured approach to collecting, processing, detecting and visualizing security events. The project combines cybersecurity concepts with practical monitoring and documentation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Aanya Yadav</a:t>
            </a:r>
          </a:p>
          <a:p>
            <a:pPr>
              <a:defRPr sz="1400">
                <a:solidFill>
                  <a:srgbClr val="BECDE1"/>
                </a:solidFill>
              </a:defRPr>
            </a:pPr>
            <a:r>
              <a:t>Cyber Intern (Web Security)  •  Unlox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70916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</a:defRPr>
            </a:pPr>
            <a:r>
              <a:t>IILM UNIVERSITY</a:t>
            </a:r>
          </a:p>
          <a:p>
            <a:pPr algn="r">
              <a:defRPr sz="1200">
                <a:solidFill>
                  <a:srgbClr val="BECDE1"/>
                </a:solidFill>
              </a:defRPr>
            </a:pPr>
            <a:r>
              <a:t>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